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0" r:id="rId3"/>
    <p:sldId id="257" r:id="rId4"/>
    <p:sldId id="263" r:id="rId5"/>
    <p:sldId id="258" r:id="rId6"/>
    <p:sldId id="259" r:id="rId7"/>
    <p:sldId id="264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8F3936-C131-4A83-A95E-77011D30D112}" v="4" dt="2026-02-05T14:28:55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81" d="100"/>
          <a:sy n="81" d="100"/>
        </p:scale>
        <p:origin x="471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凜 角田" userId="5aa770bd1d342c01" providerId="LiveId" clId="{0561B324-976F-4F08-B907-28374AB6576F}"/>
    <pc:docChg chg="custSel modSld">
      <pc:chgData name="凜 角田" userId="5aa770bd1d342c01" providerId="LiveId" clId="{0561B324-976F-4F08-B907-28374AB6576F}" dt="2026-02-05T14:28:55.051" v="392"/>
      <pc:docMkLst>
        <pc:docMk/>
      </pc:docMkLst>
      <pc:sldChg chg="modSp mod">
        <pc:chgData name="凜 角田" userId="5aa770bd1d342c01" providerId="LiveId" clId="{0561B324-976F-4F08-B907-28374AB6576F}" dt="2026-02-05T14:28:55.051" v="392"/>
        <pc:sldMkLst>
          <pc:docMk/>
          <pc:sldMk cId="2599847687" sldId="257"/>
        </pc:sldMkLst>
        <pc:spChg chg="mod">
          <ac:chgData name="凜 角田" userId="5aa770bd1d342c01" providerId="LiveId" clId="{0561B324-976F-4F08-B907-28374AB6576F}" dt="2026-02-05T14:28:55.051" v="392"/>
          <ac:spMkLst>
            <pc:docMk/>
            <pc:sldMk cId="2599847687" sldId="257"/>
            <ac:spMk id="3" creationId="{7716027C-7843-D7B0-3394-306EF89D6DF1}"/>
          </ac:spMkLst>
        </pc:spChg>
      </pc:sldChg>
      <pc:sldChg chg="addSp modSp mod">
        <pc:chgData name="凜 角田" userId="5aa770bd1d342c01" providerId="LiveId" clId="{0561B324-976F-4F08-B907-28374AB6576F}" dt="2026-02-05T14:26:45.002" v="382" actId="1076"/>
        <pc:sldMkLst>
          <pc:docMk/>
          <pc:sldMk cId="565216438" sldId="265"/>
        </pc:sldMkLst>
        <pc:spChg chg="add mod">
          <ac:chgData name="凜 角田" userId="5aa770bd1d342c01" providerId="LiveId" clId="{0561B324-976F-4F08-B907-28374AB6576F}" dt="2026-02-05T14:24:01.784" v="81" actId="1076"/>
          <ac:spMkLst>
            <pc:docMk/>
            <pc:sldMk cId="565216438" sldId="265"/>
            <ac:spMk id="6" creationId="{2330BDE2-7C01-8EF6-B46C-958FF07D1672}"/>
          </ac:spMkLst>
        </pc:spChg>
        <pc:spChg chg="add mod">
          <ac:chgData name="凜 角田" userId="5aa770bd1d342c01" providerId="LiveId" clId="{0561B324-976F-4F08-B907-28374AB6576F}" dt="2026-02-05T14:25:07.892" v="215" actId="20577"/>
          <ac:spMkLst>
            <pc:docMk/>
            <pc:sldMk cId="565216438" sldId="265"/>
            <ac:spMk id="7" creationId="{60EA53E3-BECA-8830-A8EA-7D276FD926FD}"/>
          </ac:spMkLst>
        </pc:spChg>
        <pc:spChg chg="add mod">
          <ac:chgData name="凜 角田" userId="5aa770bd1d342c01" providerId="LiveId" clId="{0561B324-976F-4F08-B907-28374AB6576F}" dt="2026-02-05T14:25:52.328" v="300" actId="14100"/>
          <ac:spMkLst>
            <pc:docMk/>
            <pc:sldMk cId="565216438" sldId="265"/>
            <ac:spMk id="8" creationId="{B3A01861-2248-08DA-65C3-584267431657}"/>
          </ac:spMkLst>
        </pc:spChg>
        <pc:spChg chg="add mod">
          <ac:chgData name="凜 角田" userId="5aa770bd1d342c01" providerId="LiveId" clId="{0561B324-976F-4F08-B907-28374AB6576F}" dt="2026-02-05T14:26:45.002" v="382" actId="1076"/>
          <ac:spMkLst>
            <pc:docMk/>
            <pc:sldMk cId="565216438" sldId="265"/>
            <ac:spMk id="9" creationId="{F00DD3F9-93EA-E05D-1FBA-2A595693F6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kumimoji="1"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656B3-9323-95FB-DECF-7AAD4F1F8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b="1" dirty="0"/>
              <a:t>My</a:t>
            </a:r>
            <a:r>
              <a:rPr lang="ja-JP" altLang="en-US" b="1" dirty="0"/>
              <a:t>　</a:t>
            </a:r>
            <a:r>
              <a:rPr lang="en-US" altLang="ja-JP" b="1" dirty="0"/>
              <a:t>TODO</a:t>
            </a:r>
            <a:r>
              <a:rPr lang="ja-JP" altLang="en-US" b="1" dirty="0"/>
              <a:t>　</a:t>
            </a:r>
            <a:r>
              <a:rPr lang="en-US" altLang="ja-JP" b="1" dirty="0"/>
              <a:t>App</a:t>
            </a:r>
            <a:r>
              <a:rPr lang="ja-JP" altLang="en-US" b="1" dirty="0"/>
              <a:t>　</a:t>
            </a:r>
            <a:r>
              <a:rPr lang="ja-JP" altLang="en-US" dirty="0"/>
              <a:t>📝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4711special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E6F708-3249-CF08-2CB5-EAD4D13C5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2272062</a:t>
            </a:r>
            <a:r>
              <a:rPr kumimoji="1" lang="ja-JP" altLang="en-US" dirty="0"/>
              <a:t>　角田凜</a:t>
            </a:r>
            <a:endParaRPr kumimoji="1" lang="en-US" altLang="ja-JP" dirty="0"/>
          </a:p>
          <a:p>
            <a:r>
              <a:rPr lang="en-US" altLang="ja-JP" dirty="0"/>
              <a:t>2341067</a:t>
            </a:r>
            <a:r>
              <a:rPr lang="ja-JP" altLang="en-US" dirty="0"/>
              <a:t>　畑遥菜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B61AC79-94F6-312B-9189-0E1D987BC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33" t="-812" r="43365" b="-232"/>
          <a:stretch>
            <a:fillRect/>
          </a:stretch>
        </p:blipFill>
        <p:spPr>
          <a:xfrm>
            <a:off x="9253267" y="718867"/>
            <a:ext cx="2938733" cy="53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8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C8725B-9945-04A6-12B4-2245C692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B565FE-0E7B-AFF7-8078-9256EAC26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グループ名：</a:t>
            </a:r>
            <a:r>
              <a:rPr kumimoji="1" lang="en-US" altLang="ja-JP" dirty="0"/>
              <a:t>4711Special</a:t>
            </a:r>
            <a:endParaRPr lang="en-US" altLang="ja-JP" dirty="0"/>
          </a:p>
          <a:p>
            <a:r>
              <a:rPr kumimoji="1" lang="ja-JP" altLang="en-US" dirty="0"/>
              <a:t>メンバー：</a:t>
            </a:r>
            <a:r>
              <a:rPr kumimoji="1" lang="en-US" altLang="ja-JP" dirty="0"/>
              <a:t>2272062</a:t>
            </a:r>
            <a:r>
              <a:rPr kumimoji="1" lang="ja-JP" altLang="en-US" dirty="0"/>
              <a:t>　角田凜　　</a:t>
            </a:r>
            <a:r>
              <a:rPr lang="en-US" altLang="ja-JP" dirty="0"/>
              <a:t>2341067</a:t>
            </a:r>
            <a:r>
              <a:rPr lang="ja-JP" altLang="en-US" dirty="0"/>
              <a:t>　畑遥菜</a:t>
            </a:r>
          </a:p>
          <a:p>
            <a:r>
              <a:rPr lang="en-US" altLang="ja-JP" dirty="0"/>
              <a:t>Git</a:t>
            </a:r>
            <a:r>
              <a:rPr lang="ja-JP" altLang="en-US" dirty="0"/>
              <a:t> </a:t>
            </a:r>
            <a:r>
              <a:rPr lang="en-US" altLang="ja-JP" dirty="0"/>
              <a:t>Hub</a:t>
            </a:r>
            <a:r>
              <a:rPr lang="ja-JP" altLang="en-US" dirty="0"/>
              <a:t>：</a:t>
            </a:r>
            <a:r>
              <a:rPr lang="en-US" altLang="ja-JP" dirty="0"/>
              <a:t>https://github.com/tunodarin/task_manager_DB.git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4152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DAE21-AEF8-A0C2-8D48-1E19E1E8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ペルソナ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16027C-7843-D7B0-3394-306EF89D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ja-JP" altLang="en-US" dirty="0"/>
              <a:t>名前：佐藤健太 </a:t>
            </a:r>
          </a:p>
          <a:p>
            <a:r>
              <a:rPr lang="ja-JP" altLang="en-US" dirty="0"/>
              <a:t>年齢：</a:t>
            </a:r>
            <a:r>
              <a:rPr lang="en-US" altLang="ja-JP" dirty="0"/>
              <a:t>20</a:t>
            </a:r>
            <a:r>
              <a:rPr lang="ja-JP" altLang="en-US" dirty="0"/>
              <a:t>歳</a:t>
            </a:r>
          </a:p>
          <a:p>
            <a:r>
              <a:rPr lang="ja-JP" altLang="en-US" dirty="0"/>
              <a:t>職業：大学</a:t>
            </a:r>
            <a:r>
              <a:rPr lang="en-US" altLang="ja-JP" dirty="0"/>
              <a:t>2</a:t>
            </a:r>
            <a:r>
              <a:rPr lang="ja-JP" altLang="en-US" dirty="0"/>
              <a:t>年生（工学部情報工学科） </a:t>
            </a:r>
          </a:p>
          <a:p>
            <a:r>
              <a:rPr lang="en-US" altLang="ja-JP" dirty="0"/>
              <a:t>《</a:t>
            </a:r>
            <a:r>
              <a:rPr lang="ja-JP" altLang="en-US" dirty="0"/>
              <a:t>価値観・性格</a:t>
            </a:r>
            <a:r>
              <a:rPr lang="en-US" altLang="ja-JP" dirty="0"/>
              <a:t>》</a:t>
            </a:r>
          </a:p>
          <a:p>
            <a:r>
              <a:rPr lang="ja-JP" altLang="en-US" dirty="0"/>
              <a:t>・効率重視、合理的 </a:t>
            </a:r>
          </a:p>
          <a:p>
            <a:r>
              <a:rPr lang="ja-JP" altLang="en-US" dirty="0"/>
              <a:t>・デジタルツールが好き</a:t>
            </a:r>
          </a:p>
          <a:p>
            <a:r>
              <a:rPr lang="ja-JP" altLang="en-US" dirty="0"/>
              <a:t>・多機能すぎるツールは設定が面倒で続かない </a:t>
            </a:r>
          </a:p>
          <a:p>
            <a:r>
              <a:rPr lang="en-US" altLang="ja-JP" dirty="0"/>
              <a:t>《</a:t>
            </a:r>
            <a:r>
              <a:rPr lang="ja-JP" altLang="en-US" dirty="0"/>
              <a:t>利用動機</a:t>
            </a:r>
            <a:r>
              <a:rPr lang="en-US" altLang="ja-JP" dirty="0"/>
              <a:t>》</a:t>
            </a:r>
          </a:p>
          <a:p>
            <a:r>
              <a:rPr lang="ja-JP" altLang="en-US" dirty="0"/>
              <a:t>・講義課題、サークル事務、バイト管理が重複 </a:t>
            </a:r>
          </a:p>
          <a:p>
            <a:r>
              <a:rPr lang="ja-JP" altLang="en-US" dirty="0"/>
              <a:t>・提出期限の失念によるミスを防ぎたい </a:t>
            </a:r>
          </a:p>
          <a:p>
            <a:r>
              <a:rPr lang="ja-JP" altLang="en-US" dirty="0"/>
              <a:t>・「覚えておく」管理に限界を感じている </a:t>
            </a:r>
          </a:p>
          <a:p>
            <a:r>
              <a:rPr lang="en-US" altLang="ja-JP" dirty="0"/>
              <a:t>《</a:t>
            </a:r>
            <a:r>
              <a:rPr lang="ja-JP" altLang="en-US" dirty="0"/>
              <a:t>ツールに求めること</a:t>
            </a:r>
            <a:r>
              <a:rPr lang="en-US" altLang="ja-JP" dirty="0"/>
              <a:t>》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PC</a:t>
            </a:r>
            <a:r>
              <a:rPr lang="ja-JP" altLang="en-US" dirty="0"/>
              <a:t>とスマホの両方に対応していること</a:t>
            </a:r>
            <a:endParaRPr lang="en-US" altLang="ja-JP" dirty="0"/>
          </a:p>
          <a:p>
            <a:r>
              <a:rPr lang="ja-JP" altLang="en-US" dirty="0"/>
              <a:t>・ページ遷移が少なく更新に時間が掛からないこと</a:t>
            </a:r>
          </a:p>
          <a:p>
            <a:r>
              <a:rPr lang="ja-JP" altLang="en-US" dirty="0"/>
              <a:t>・入力が速く、迷わない</a:t>
            </a:r>
            <a:r>
              <a:rPr lang="en-US" altLang="ja-JP" dirty="0"/>
              <a:t>UI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SQLite</a:t>
            </a:r>
            <a:r>
              <a:rPr lang="ja-JP" altLang="en-US" dirty="0"/>
              <a:t>によるローカル永続化の安心感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9984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1C420C-FB38-BF99-AA31-C4ED71A8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ストーリーボード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8087A8B-3357-E5E9-A331-FDC2ADF60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464720"/>
            <a:ext cx="7315200" cy="3919034"/>
          </a:xfrm>
        </p:spPr>
      </p:pic>
    </p:spTree>
    <p:extLst>
      <p:ext uri="{BB962C8B-B14F-4D97-AF65-F5344CB8AC3E}">
        <p14:creationId xmlns:p14="http://schemas.microsoft.com/office/powerpoint/2010/main" val="187035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1862C-1F9C-960A-5D91-1B395F94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ペルソナ：</a:t>
            </a:r>
            <a:br>
              <a:rPr lang="en-US" altLang="ja-JP" dirty="0"/>
            </a:br>
            <a:r>
              <a:rPr lang="ja-JP" altLang="en-US" dirty="0"/>
              <a:t>佐藤健太の</a:t>
            </a:r>
            <a:br>
              <a:rPr lang="en-US" altLang="ja-JP" dirty="0"/>
            </a:br>
            <a:r>
              <a:rPr lang="ja-JP" altLang="en-US" dirty="0"/>
              <a:t>モチベーショングラフ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B32175F-202D-9906-37CD-A6B1F42A0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783" y="1679275"/>
            <a:ext cx="6575202" cy="4364190"/>
          </a:xfrm>
          <a:prstGeom prst="rect">
            <a:avLst/>
          </a:prstGeom>
        </p:spPr>
      </p:pic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5CF6B1ED-A95B-8737-DC78-7F1246448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554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EC7CA6-5E82-B683-17CC-06A21F31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83CF44-3269-5E8C-6753-8145200E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ペルソナ定義から出た非機能要件として、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ページ遷移が少なく更新に時間が掛からないこと</a:t>
            </a:r>
          </a:p>
          <a:p>
            <a:r>
              <a:rPr lang="ja-JP" altLang="en-US" dirty="0"/>
              <a:t>入力が速く、迷わない</a:t>
            </a:r>
            <a:r>
              <a:rPr lang="en-US" altLang="ja-JP" dirty="0"/>
              <a:t>UI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を上げていたので、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u="sng" dirty="0">
                <a:highlight>
                  <a:srgbClr val="FFFF00"/>
                </a:highlight>
              </a:rPr>
              <a:t>ページ遷移の無いブラウザアプリ</a:t>
            </a:r>
            <a:endParaRPr lang="en-US" altLang="ja-JP" u="sng" dirty="0">
              <a:highlight>
                <a:srgbClr val="FFFF00"/>
              </a:highlight>
            </a:endParaRPr>
          </a:p>
          <a:p>
            <a:r>
              <a:rPr lang="ja-JP" altLang="en-US" u="sng" dirty="0">
                <a:highlight>
                  <a:srgbClr val="FFFF00"/>
                </a:highlight>
              </a:rPr>
              <a:t>一画面で入力から管理までできる</a:t>
            </a:r>
            <a:endParaRPr lang="en-US" altLang="ja-JP" u="sng" dirty="0">
              <a:highlight>
                <a:srgbClr val="FFFF00"/>
              </a:highlight>
            </a:endParaRPr>
          </a:p>
          <a:p>
            <a:r>
              <a:rPr lang="ja-JP" altLang="en-US" u="sng" dirty="0">
                <a:highlight>
                  <a:srgbClr val="FFFF00"/>
                </a:highlight>
              </a:rPr>
              <a:t>とにかく更新に時間が掛からない、ラグがない</a:t>
            </a:r>
            <a:endParaRPr lang="en-US" altLang="ja-JP" u="sng" dirty="0">
              <a:highlight>
                <a:srgbClr val="FFFF00"/>
              </a:highlight>
            </a:endParaRPr>
          </a:p>
          <a:p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ことを最優先にして開発しました。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97042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17424C-305C-41B3-E09A-A652EF8B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649564" cy="4601183"/>
          </a:xfrm>
        </p:spPr>
        <p:txBody>
          <a:bodyPr/>
          <a:lstStyle/>
          <a:p>
            <a:r>
              <a:rPr kumimoji="1" lang="ja-JP" altLang="en-US" dirty="0"/>
              <a:t>アプリケーション概要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7BA3A12-550E-8E9E-99C3-5EE67504B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3770" y="1283523"/>
            <a:ext cx="7315200" cy="4388000"/>
          </a:xfrm>
        </p:spPr>
      </p:pic>
      <p:sp>
        <p:nvSpPr>
          <p:cNvPr id="6" name="吹き出し: 円形 5">
            <a:extLst>
              <a:ext uri="{FF2B5EF4-FFF2-40B4-BE49-F238E27FC236}">
                <a16:creationId xmlns:a16="http://schemas.microsoft.com/office/drawing/2014/main" id="{5BA7C971-D59C-3BE1-84DF-0037F49DBA18}"/>
              </a:ext>
            </a:extLst>
          </p:cNvPr>
          <p:cNvSpPr/>
          <p:nvPr/>
        </p:nvSpPr>
        <p:spPr>
          <a:xfrm>
            <a:off x="10364440" y="1691845"/>
            <a:ext cx="1735648" cy="852044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③　</a:t>
            </a:r>
            <a:endParaRPr kumimoji="1" lang="en-US" altLang="ja-JP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kumimoji="1" lang="ja-JP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追加</a:t>
            </a:r>
            <a:endParaRPr kumimoji="1" lang="ja-JP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吹き出し: 円形 8">
            <a:extLst>
              <a:ext uri="{FF2B5EF4-FFF2-40B4-BE49-F238E27FC236}">
                <a16:creationId xmlns:a16="http://schemas.microsoft.com/office/drawing/2014/main" id="{A3C10E9B-64DA-3C5D-C42E-E89263923A78}"/>
              </a:ext>
            </a:extLst>
          </p:cNvPr>
          <p:cNvSpPr/>
          <p:nvPr/>
        </p:nvSpPr>
        <p:spPr>
          <a:xfrm>
            <a:off x="8776276" y="626038"/>
            <a:ext cx="1735648" cy="1491829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②　</a:t>
            </a:r>
            <a:endParaRPr kumimoji="1" lang="en-US" altLang="ja-JP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kumimoji="1" lang="ja-JP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タスクの期限を設定</a:t>
            </a:r>
            <a:endParaRPr kumimoji="1" lang="ja-JP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吹き出し: 円形 9">
            <a:extLst>
              <a:ext uri="{FF2B5EF4-FFF2-40B4-BE49-F238E27FC236}">
                <a16:creationId xmlns:a16="http://schemas.microsoft.com/office/drawing/2014/main" id="{FC2420C2-4029-74ED-243A-F0EDB9FFBEC7}"/>
              </a:ext>
            </a:extLst>
          </p:cNvPr>
          <p:cNvSpPr/>
          <p:nvPr/>
        </p:nvSpPr>
        <p:spPr>
          <a:xfrm>
            <a:off x="3785165" y="984208"/>
            <a:ext cx="1735648" cy="1227066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①　</a:t>
            </a:r>
            <a:endParaRPr kumimoji="1" lang="en-US" altLang="ja-JP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kumimoji="1" lang="ja-JP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追加するタスクを入力</a:t>
            </a:r>
            <a:endParaRPr kumimoji="1" lang="ja-JP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6A63F-5290-98D0-B468-BB6D4C39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アプリケーション概要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F3962A9-F93A-07EB-F02C-170252CDF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8358" y="255966"/>
            <a:ext cx="5616658" cy="5938356"/>
          </a:xfrm>
        </p:spPr>
      </p:pic>
      <p:sp>
        <p:nvSpPr>
          <p:cNvPr id="6" name="吹き出し: 円形 5">
            <a:extLst>
              <a:ext uri="{FF2B5EF4-FFF2-40B4-BE49-F238E27FC236}">
                <a16:creationId xmlns:a16="http://schemas.microsoft.com/office/drawing/2014/main" id="{2330BDE2-7C01-8EF6-B46C-958FF07D1672}"/>
              </a:ext>
            </a:extLst>
          </p:cNvPr>
          <p:cNvSpPr/>
          <p:nvPr/>
        </p:nvSpPr>
        <p:spPr>
          <a:xfrm>
            <a:off x="9199042" y="663678"/>
            <a:ext cx="2033330" cy="1203469"/>
          </a:xfrm>
          <a:prstGeom prst="wedgeEllipse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追加されたタスクが同画面に表示される</a:t>
            </a:r>
          </a:p>
        </p:txBody>
      </p:sp>
      <p:sp>
        <p:nvSpPr>
          <p:cNvPr id="7" name="吹き出し: 円形 6">
            <a:extLst>
              <a:ext uri="{FF2B5EF4-FFF2-40B4-BE49-F238E27FC236}">
                <a16:creationId xmlns:a16="http://schemas.microsoft.com/office/drawing/2014/main" id="{60EA53E3-BECA-8830-A8EA-7D276FD926FD}"/>
              </a:ext>
            </a:extLst>
          </p:cNvPr>
          <p:cNvSpPr/>
          <p:nvPr/>
        </p:nvSpPr>
        <p:spPr>
          <a:xfrm>
            <a:off x="9256088" y="1978251"/>
            <a:ext cx="2935912" cy="1626255"/>
          </a:xfrm>
          <a:prstGeom prst="wedgeEllipse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期限を設定せず追加されたタスクは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「期限なし」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として一番上に</a:t>
            </a:r>
          </a:p>
        </p:txBody>
      </p:sp>
      <p:sp>
        <p:nvSpPr>
          <p:cNvPr id="8" name="吹き出し: 円形 7">
            <a:extLst>
              <a:ext uri="{FF2B5EF4-FFF2-40B4-BE49-F238E27FC236}">
                <a16:creationId xmlns:a16="http://schemas.microsoft.com/office/drawing/2014/main" id="{B3A01861-2248-08DA-65C3-584267431657}"/>
              </a:ext>
            </a:extLst>
          </p:cNvPr>
          <p:cNvSpPr/>
          <p:nvPr/>
        </p:nvSpPr>
        <p:spPr>
          <a:xfrm>
            <a:off x="6872748" y="2623409"/>
            <a:ext cx="2217175" cy="1447146"/>
          </a:xfrm>
          <a:prstGeom prst="wedgeEllipse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期限付きのタスクは期限が近い順に上から並ぶ</a:t>
            </a:r>
          </a:p>
        </p:txBody>
      </p:sp>
      <p:sp>
        <p:nvSpPr>
          <p:cNvPr id="9" name="吹き出し: 円形 8">
            <a:extLst>
              <a:ext uri="{FF2B5EF4-FFF2-40B4-BE49-F238E27FC236}">
                <a16:creationId xmlns:a16="http://schemas.microsoft.com/office/drawing/2014/main" id="{F00DD3F9-93EA-E05D-1FBA-2A595693F685}"/>
              </a:ext>
            </a:extLst>
          </p:cNvPr>
          <p:cNvSpPr/>
          <p:nvPr/>
        </p:nvSpPr>
        <p:spPr>
          <a:xfrm>
            <a:off x="8112568" y="4294729"/>
            <a:ext cx="2700940" cy="1392249"/>
          </a:xfrm>
          <a:prstGeom prst="wedgeEllipse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完了したタスクにチェックを付けると同画面下部に表示される</a:t>
            </a:r>
          </a:p>
        </p:txBody>
      </p:sp>
    </p:spTree>
    <p:extLst>
      <p:ext uri="{BB962C8B-B14F-4D97-AF65-F5344CB8AC3E}">
        <p14:creationId xmlns:p14="http://schemas.microsoft.com/office/powerpoint/2010/main" val="56521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7CC0A7-A21C-6F83-EB40-0F8BD88C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ER</a:t>
            </a:r>
            <a:r>
              <a:rPr kumimoji="1" lang="ja-JP" altLang="en-US" dirty="0"/>
              <a:t>図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BB3A167-F2B0-458F-65CF-50BC208AF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8589" y="2156605"/>
            <a:ext cx="7595349" cy="1850808"/>
          </a:xfrm>
        </p:spPr>
      </p:pic>
    </p:spTree>
    <p:extLst>
      <p:ext uri="{BB962C8B-B14F-4D97-AF65-F5344CB8AC3E}">
        <p14:creationId xmlns:p14="http://schemas.microsoft.com/office/powerpoint/2010/main" val="317372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ABE5AD-A292-2865-C37C-4F7B264A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システム構成図</a:t>
            </a:r>
          </a:p>
        </p:txBody>
      </p:sp>
      <p:grpSp>
        <p:nvGrpSpPr>
          <p:cNvPr id="4" name="Organization Chart 3">
            <a:extLst>
              <a:ext uri="{FF2B5EF4-FFF2-40B4-BE49-F238E27FC236}">
                <a16:creationId xmlns:a16="http://schemas.microsoft.com/office/drawing/2014/main" id="{84662D5A-69E0-00F0-18F7-E20D90AC6271}"/>
              </a:ext>
            </a:extLst>
          </p:cNvPr>
          <p:cNvGrpSpPr>
            <a:grpSpLocks/>
          </p:cNvGrpSpPr>
          <p:nvPr/>
        </p:nvGrpSpPr>
        <p:grpSpPr bwMode="auto">
          <a:xfrm>
            <a:off x="3817419" y="1053948"/>
            <a:ext cx="7007922" cy="4536504"/>
            <a:chOff x="481" y="1008"/>
            <a:chExt cx="1844" cy="1893"/>
          </a:xfrm>
        </p:grpSpPr>
        <p:cxnSp>
          <p:nvCxnSpPr>
            <p:cNvPr id="5" name="_s3079">
              <a:extLst>
                <a:ext uri="{FF2B5EF4-FFF2-40B4-BE49-F238E27FC236}">
                  <a16:creationId xmlns:a16="http://schemas.microsoft.com/office/drawing/2014/main" id="{E44F1EA3-28CB-3594-B3EA-CD20F6725113}"/>
                </a:ext>
              </a:extLst>
            </p:cNvPr>
            <p:cNvCxnSpPr>
              <a:cxnSpLocks noChangeShapeType="1"/>
              <a:stCxn id="17" idx="1"/>
              <a:endCxn id="14" idx="2"/>
            </p:cNvCxnSpPr>
            <p:nvPr/>
          </p:nvCxnSpPr>
          <p:spPr bwMode="auto">
            <a:xfrm rot="10800000">
              <a:off x="995" y="2617"/>
              <a:ext cx="446" cy="19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_s3080">
              <a:extLst>
                <a:ext uri="{FF2B5EF4-FFF2-40B4-BE49-F238E27FC236}">
                  <a16:creationId xmlns:a16="http://schemas.microsoft.com/office/drawing/2014/main" id="{24F7DD94-45FE-EA01-18F6-B53D58E3D273}"/>
                </a:ext>
              </a:extLst>
            </p:cNvPr>
            <p:cNvCxnSpPr>
              <a:cxnSpLocks noChangeShapeType="1"/>
              <a:stCxn id="16" idx="1"/>
            </p:cNvCxnSpPr>
            <p:nvPr/>
          </p:nvCxnSpPr>
          <p:spPr bwMode="auto">
            <a:xfrm rot="10800000">
              <a:off x="1384" y="2026"/>
              <a:ext cx="78" cy="22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_s3081">
              <a:extLst>
                <a:ext uri="{FF2B5EF4-FFF2-40B4-BE49-F238E27FC236}">
                  <a16:creationId xmlns:a16="http://schemas.microsoft.com/office/drawing/2014/main" id="{CA19BAA6-4735-ABE5-988C-D332CB16A55C}"/>
                </a:ext>
              </a:extLst>
            </p:cNvPr>
            <p:cNvCxnSpPr>
              <a:cxnSpLocks noChangeShapeType="1"/>
              <a:stCxn id="15" idx="1"/>
              <a:endCxn id="12" idx="2"/>
            </p:cNvCxnSpPr>
            <p:nvPr/>
          </p:nvCxnSpPr>
          <p:spPr bwMode="auto">
            <a:xfrm rot="10800000">
              <a:off x="1163" y="1481"/>
              <a:ext cx="277" cy="19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_s3082">
              <a:extLst>
                <a:ext uri="{FF2B5EF4-FFF2-40B4-BE49-F238E27FC236}">
                  <a16:creationId xmlns:a16="http://schemas.microsoft.com/office/drawing/2014/main" id="{1C247776-4746-785A-A48E-C90483F9D13F}"/>
                </a:ext>
              </a:extLst>
            </p:cNvPr>
            <p:cNvCxnSpPr>
              <a:cxnSpLocks noChangeShapeType="1"/>
              <a:stCxn id="14" idx="1"/>
              <a:endCxn id="11" idx="2"/>
            </p:cNvCxnSpPr>
            <p:nvPr/>
          </p:nvCxnSpPr>
          <p:spPr bwMode="auto">
            <a:xfrm rot="10800000">
              <a:off x="851" y="1197"/>
              <a:ext cx="13" cy="132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_s3083">
              <a:extLst>
                <a:ext uri="{FF2B5EF4-FFF2-40B4-BE49-F238E27FC236}">
                  <a16:creationId xmlns:a16="http://schemas.microsoft.com/office/drawing/2014/main" id="{76F1E435-F921-8450-DBAE-470F80C04FB2}"/>
                </a:ext>
              </a:extLst>
            </p:cNvPr>
            <p:cNvCxnSpPr>
              <a:cxnSpLocks noChangeShapeType="1"/>
              <a:stCxn id="13" idx="1"/>
              <a:endCxn id="11" idx="2"/>
            </p:cNvCxnSpPr>
            <p:nvPr/>
          </p:nvCxnSpPr>
          <p:spPr bwMode="auto">
            <a:xfrm rot="10800000">
              <a:off x="851" y="1197"/>
              <a:ext cx="13" cy="723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_s3084">
              <a:extLst>
                <a:ext uri="{FF2B5EF4-FFF2-40B4-BE49-F238E27FC236}">
                  <a16:creationId xmlns:a16="http://schemas.microsoft.com/office/drawing/2014/main" id="{0657ECAA-2CA1-3C2D-16D0-33981A465DD9}"/>
                </a:ext>
              </a:extLst>
            </p:cNvPr>
            <p:cNvCxnSpPr>
              <a:cxnSpLocks noChangeShapeType="1"/>
              <a:stCxn id="12" idx="1"/>
              <a:endCxn id="11" idx="2"/>
            </p:cNvCxnSpPr>
            <p:nvPr/>
          </p:nvCxnSpPr>
          <p:spPr bwMode="auto">
            <a:xfrm rot="10800000">
              <a:off x="851" y="1197"/>
              <a:ext cx="13" cy="19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_s3085">
              <a:extLst>
                <a:ext uri="{FF2B5EF4-FFF2-40B4-BE49-F238E27FC236}">
                  <a16:creationId xmlns:a16="http://schemas.microsoft.com/office/drawing/2014/main" id="{16FE502B-EC64-D7F2-AC53-C985C7965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" y="1008"/>
              <a:ext cx="739" cy="189"/>
            </a:xfrm>
            <a:prstGeom prst="bracketPair">
              <a:avLst>
                <a:gd name="adj" fmla="val 0"/>
              </a:avLst>
            </a:prstGeom>
            <a:solidFill>
              <a:schemeClr val="fol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Simple task manager</a:t>
              </a:r>
              <a:endParaRPr lang="ja-JP" altLang="en-US" dirty="0"/>
            </a:p>
          </p:txBody>
        </p:sp>
        <p:sp>
          <p:nvSpPr>
            <p:cNvPr id="12" name="_s3086">
              <a:extLst>
                <a:ext uri="{FF2B5EF4-FFF2-40B4-BE49-F238E27FC236}">
                  <a16:creationId xmlns:a16="http://schemas.microsoft.com/office/drawing/2014/main" id="{10EED9F0-4D07-51A6-8AEA-0FE528BA2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92"/>
              <a:ext cx="598" cy="189"/>
            </a:xfrm>
            <a:prstGeom prst="bracketPair">
              <a:avLst>
                <a:gd name="adj" fmla="val 0"/>
              </a:avLst>
            </a:prstGeom>
            <a:solidFill>
              <a:schemeClr val="accent2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ja-JP" altLang="en-US" dirty="0"/>
                <a:t>プレゼンテーション層</a:t>
              </a:r>
            </a:p>
          </p:txBody>
        </p:sp>
        <p:sp>
          <p:nvSpPr>
            <p:cNvPr id="13" name="_s3087">
              <a:extLst>
                <a:ext uri="{FF2B5EF4-FFF2-40B4-BE49-F238E27FC236}">
                  <a16:creationId xmlns:a16="http://schemas.microsoft.com/office/drawing/2014/main" id="{718A5295-24BA-1930-3213-7D36B306B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825"/>
              <a:ext cx="570" cy="189"/>
            </a:xfrm>
            <a:prstGeom prst="bracketPair">
              <a:avLst>
                <a:gd name="adj" fmla="val 0"/>
              </a:avLst>
            </a:prstGeom>
            <a:solidFill>
              <a:schemeClr val="accent2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ja-JP" altLang="en-US" dirty="0"/>
                <a:t>アプリケーション層</a:t>
              </a:r>
            </a:p>
          </p:txBody>
        </p:sp>
        <p:sp>
          <p:nvSpPr>
            <p:cNvPr id="14" name="_s3088">
              <a:extLst>
                <a:ext uri="{FF2B5EF4-FFF2-40B4-BE49-F238E27FC236}">
                  <a16:creationId xmlns:a16="http://schemas.microsoft.com/office/drawing/2014/main" id="{65E1021F-96D7-980F-C15A-12829B288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28"/>
              <a:ext cx="262" cy="189"/>
            </a:xfrm>
            <a:prstGeom prst="bracketPair">
              <a:avLst>
                <a:gd name="adj" fmla="val 0"/>
              </a:avLst>
            </a:prstGeom>
            <a:solidFill>
              <a:schemeClr val="accent2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ja-JP" altLang="en-US" dirty="0"/>
                <a:t>データ層</a:t>
              </a:r>
            </a:p>
          </p:txBody>
        </p:sp>
        <p:sp>
          <p:nvSpPr>
            <p:cNvPr id="15" name="_s3089">
              <a:extLst>
                <a:ext uri="{FF2B5EF4-FFF2-40B4-BE49-F238E27FC236}">
                  <a16:creationId xmlns:a16="http://schemas.microsoft.com/office/drawing/2014/main" id="{63FBD6AE-F317-895A-97B4-8DF63DC0A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576"/>
              <a:ext cx="557" cy="189"/>
            </a:xfrm>
            <a:prstGeom prst="bracketPair">
              <a:avLst>
                <a:gd name="adj" fmla="val 0"/>
              </a:avLst>
            </a:prstGeom>
            <a:solidFill>
              <a:schemeClr val="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HTML</a:t>
              </a:r>
              <a:r>
                <a:rPr lang="ja-JP" altLang="en-US" dirty="0"/>
                <a:t>（</a:t>
              </a:r>
              <a:r>
                <a:rPr lang="en-US" altLang="ja-JP" dirty="0"/>
                <a:t>index.html</a:t>
              </a:r>
              <a:r>
                <a:rPr lang="ja-JP" altLang="en-US" dirty="0"/>
                <a:t>）</a:t>
              </a:r>
            </a:p>
          </p:txBody>
        </p:sp>
        <p:sp>
          <p:nvSpPr>
            <p:cNvPr id="16" name="_s3090">
              <a:extLst>
                <a:ext uri="{FF2B5EF4-FFF2-40B4-BE49-F238E27FC236}">
                  <a16:creationId xmlns:a16="http://schemas.microsoft.com/office/drawing/2014/main" id="{EC59D23F-7D04-3929-AC29-4290B4D15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2151"/>
              <a:ext cx="863" cy="189"/>
            </a:xfrm>
            <a:prstGeom prst="bracketPair">
              <a:avLst>
                <a:gd name="adj" fmla="val 0"/>
              </a:avLst>
            </a:prstGeom>
            <a:solidFill>
              <a:schemeClr val="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Python</a:t>
              </a:r>
              <a:r>
                <a:rPr lang="ja-JP" altLang="en-US" dirty="0"/>
                <a:t>、</a:t>
              </a:r>
              <a:r>
                <a:rPr lang="en-US" altLang="ja-JP" dirty="0"/>
                <a:t>Flask</a:t>
              </a:r>
              <a:r>
                <a:rPr lang="ja-JP" altLang="en-US" dirty="0"/>
                <a:t>（</a:t>
              </a:r>
              <a:r>
                <a:rPr lang="en-US" altLang="ja-JP" dirty="0"/>
                <a:t>DB.py</a:t>
              </a:r>
              <a:r>
                <a:rPr lang="ja-JP" altLang="en-US" dirty="0"/>
                <a:t>）</a:t>
              </a:r>
            </a:p>
          </p:txBody>
        </p:sp>
        <p:sp>
          <p:nvSpPr>
            <p:cNvPr id="17" name="_s3091">
              <a:extLst>
                <a:ext uri="{FF2B5EF4-FFF2-40B4-BE49-F238E27FC236}">
                  <a16:creationId xmlns:a16="http://schemas.microsoft.com/office/drawing/2014/main" id="{3F19BB67-03EE-50F0-5265-5B4B43066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" y="2712"/>
              <a:ext cx="863" cy="189"/>
            </a:xfrm>
            <a:prstGeom prst="bracketPair">
              <a:avLst>
                <a:gd name="adj" fmla="val 0"/>
              </a:avLst>
            </a:prstGeom>
            <a:solidFill>
              <a:schemeClr val="hlink">
                <a:alpha val="5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33530" tIns="16765" rIns="33530" bIns="16765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ja-JP" dirty="0"/>
                <a:t>SQLite</a:t>
              </a:r>
              <a:r>
                <a:rPr lang="ja-JP" altLang="en-US" dirty="0"/>
                <a:t>（</a:t>
              </a:r>
              <a:r>
                <a:rPr lang="en-US" altLang="ja-JP" dirty="0" err="1"/>
                <a:t>database.db</a:t>
              </a:r>
              <a:r>
                <a:rPr lang="ja-JP" altLang="en-US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463442"/>
      </p:ext>
    </p:extLst>
  </p:cSld>
  <p:clrMapOvr>
    <a:masterClrMapping/>
  </p:clrMapOvr>
</p:sld>
</file>

<file path=ppt/theme/theme1.xml><?xml version="1.0" encoding="utf-8"?>
<a:theme xmlns:a="http://schemas.openxmlformats.org/drawingml/2006/main" name="フレーム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{FD089271-7918-4CA5-B4C1-E1185E1B2715}TF5b254a55-10e1-4643-bbf8-937ce7de93d886038898-efa63dfd5ea5</Template>
  <TotalTime>156</TotalTime>
  <Words>334</Words>
  <Application>Microsoft Office PowerPoint</Application>
  <PresentationFormat>ワイド画面</PresentationFormat>
  <Paragraphs>62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 2</vt:lpstr>
      <vt:lpstr>フレーム</vt:lpstr>
      <vt:lpstr>My　TODO　App　📝  4711special</vt:lpstr>
      <vt:lpstr>概要</vt:lpstr>
      <vt:lpstr>ペルソナ </vt:lpstr>
      <vt:lpstr>ストーリーボード</vt:lpstr>
      <vt:lpstr>ペルソナ： 佐藤健太の モチベーショングラフ</vt:lpstr>
      <vt:lpstr>UI</vt:lpstr>
      <vt:lpstr>アプリケーション概要</vt:lpstr>
      <vt:lpstr>アプリケーション概要</vt:lpstr>
      <vt:lpstr>ER図</vt:lpstr>
      <vt:lpstr>システム構成図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凜 角田</dc:creator>
  <cp:lastModifiedBy>凜 角田</cp:lastModifiedBy>
  <cp:revision>3</cp:revision>
  <dcterms:created xsi:type="dcterms:W3CDTF">2026-01-16T00:38:07Z</dcterms:created>
  <dcterms:modified xsi:type="dcterms:W3CDTF">2026-02-05T14:29:05Z</dcterms:modified>
</cp:coreProperties>
</file>